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1" r:id="rId9"/>
    <p:sldId id="262" r:id="rId10"/>
    <p:sldId id="263" r:id="rId11"/>
    <p:sldId id="270" r:id="rId12"/>
    <p:sldId id="271" r:id="rId13"/>
    <p:sldId id="272" r:id="rId14"/>
    <p:sldId id="273" r:id="rId15"/>
    <p:sldId id="269" r:id="rId16"/>
    <p:sldId id="264" r:id="rId17"/>
    <p:sldId id="265" r:id="rId18"/>
    <p:sldId id="266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611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858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322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79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42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63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672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79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61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41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77389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565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713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28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7956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050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90D78-B61D-4D62-85F3-AB397809A9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925055-0CA6-4225-82D0-6B19A8ABD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23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28pGzLybn_OGt-UiZCpFZ136gcSmyK7r?usp=sharing" TargetMode="External"/><Relationship Id="rId2" Type="http://schemas.openxmlformats.org/officeDocument/2006/relationships/hyperlink" Target="https://github.com/ayushkumar1311/GlobalTech-Financial-Data-Analytics-Audit.git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2B14-028D-5227-5DDE-B16469415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574" y="1761505"/>
            <a:ext cx="9755187" cy="1589494"/>
          </a:xfrm>
        </p:spPr>
        <p:txBody>
          <a:bodyPr>
            <a:normAutofit/>
          </a:bodyPr>
          <a:lstStyle/>
          <a:p>
            <a:pPr algn="l"/>
            <a:r>
              <a:rPr lang="en-US" sz="45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GlobalTech</a:t>
            </a:r>
            <a:r>
              <a:rPr lang="en-US" sz="4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Financial Data Analytics &amp; Audit</a:t>
            </a:r>
            <a:endParaRPr lang="en-US" sz="45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187F7-8324-7289-3C8A-D7D0C6578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700" y="3507002"/>
            <a:ext cx="7612399" cy="2227048"/>
          </a:xfrm>
        </p:spPr>
        <p:txBody>
          <a:bodyPr>
            <a:normAutofit fontScale="92500"/>
          </a:bodyPr>
          <a:lstStyle/>
          <a:p>
            <a:pPr algn="l"/>
            <a:r>
              <a:rPr 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  <a:endParaRPr lang="en-US" sz="2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Ayush Kumar</a:t>
            </a:r>
          </a:p>
          <a:p>
            <a:pPr algn="l"/>
            <a:r>
              <a:rPr 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 by: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iStudio</a:t>
            </a:r>
            <a:endParaRPr lang="en-US" sz="2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Course / Batch: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Analytics Internship (2025-26)</a:t>
            </a:r>
          </a:p>
          <a:p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Logo">
            <a:extLst>
              <a:ext uri="{FF2B5EF4-FFF2-40B4-BE49-F238E27FC236}">
                <a16:creationId xmlns:a16="http://schemas.microsoft.com/office/drawing/2014/main" id="{DCD80800-ACE7-1E49-2CA5-C46FBBFC5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86" y="6279135"/>
            <a:ext cx="1629113" cy="37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22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795B8-F0BE-C956-76F3-B4B3F05CF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1120"/>
            <a:ext cx="9603275" cy="63375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739D0-62F3-8556-569C-2BEB708676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1390650"/>
            <a:ext cx="9715500" cy="4371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Split-layout card view with 3 primary metrics highlighted in large bold text on the left, and key takeaways on the right.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 Cards: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$148.27M USD: Total Audited Revenue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14,183: Verified Active Accounts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2.0 Seconds: Full Pipeline Execution Time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multi-source data fragmentation across relational SQL, raw server logs, and static exchange rate files.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 system error logs and deduplicated user status histories using windowing logic.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real-time executive visibility via an interactive Power BI audit dashboard.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5C3E562B-7C99-B3CC-851F-34E98F888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86" y="6279135"/>
            <a:ext cx="1629113" cy="37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132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F4A99-8070-1FAA-E6E7-761613D0D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1119"/>
            <a:ext cx="9603275" cy="104923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5A50E-76C3-D646-BC64-BE867CEAB3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125" y="1320354"/>
            <a:ext cx="9267825" cy="3870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4-quadrant grid detailing impact across different corporate teams.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Leadership &amp; CFO: Delivers an audited, single source of truth for total global USD revenue and quarterly financial performance.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Auditors &amp; Compliance: Verifies cross-border transaction integrity, exchange rate consistency, and account deduplication accuracy.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Engineering &amp; Analytics: Establishes a scalable, reproducible ETL pipeline architecture for future automated reporting.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Management &amp; Sales Strategy: Provides customer-level contribution metrics to drive enterprise retention and growth.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2CA83631-AAE5-2482-AECE-A81228712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86" y="6279135"/>
            <a:ext cx="1629113" cy="37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9750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C880-9D17-A85C-72D8-FF8AF717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643823"/>
            <a:ext cx="9603275" cy="10492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CA56-F981-1C7F-C508-4987FDC303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9151" y="1693058"/>
            <a:ext cx="9296400" cy="3311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horizontal risk callout boxes.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&amp; Fragmented Logs: Over 100,000 server log entries contained unstructured JSON payloads mixed with system error logs that skewed raw calculations.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Status Duplication: Users transition through Pending, Active, and Suspended states over time; without deduplication, suspended accounts risked polluting active figures.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Exchange Rate Gaps: Currency exchange rate tables omitted weekends and holidays, leaving cross-border transactions unrecorded if not handled programmatically.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07163CCC-CA7C-F632-FFDA-2CCDD862B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86" y="6279135"/>
            <a:ext cx="1629113" cy="37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491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1D420-D9A4-B6C1-5F73-1492E17AE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746227"/>
            <a:ext cx="9603275" cy="1049235"/>
          </a:xfrm>
        </p:spPr>
        <p:txBody>
          <a:bodyPr/>
          <a:lstStyle/>
          <a:p>
            <a:r>
              <a:rPr lang="en-US" dirty="0"/>
              <a:t>Data Quality &amp; Cleaning Metrics Slide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0F674-2750-2ADF-7AE1-0A5D59F610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795462"/>
            <a:ext cx="9115425" cy="32670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Raw Log Ingestion: 100,000 raw server log entries processed.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Error Log Filtration: ~5,098 system error/failed transaction logs identified and removed.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Valid Parsed Transactions: 94,902 clean financial transaction records.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Active Deduplicated Transactions: 53,899 reconciled transactions belonging strictly to verified active accounts.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8897CB43-1362-DD5A-3ADD-02C5DCCAB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86" y="6279135"/>
            <a:ext cx="1629113" cy="37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224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03116-E2E4-106D-B937-6D475F64A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Risk, Governance &amp; Audit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F0D82-A212-8E99-A3A0-F8BDBFA29D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562100"/>
            <a:ext cx="9324975" cy="38124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financial fin-tech environments, compliance and data security are critical.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Auditability &amp; Traceability: Every line item in the final Power BI dashboard maps back directly to a parsed raw log line and timestamp.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Deduplication Safeguards: Used SQL window functions to ensure suspended or pending users do not artificially inflate company valuation or active user KPIs.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Exchange Rate Integrity: Eliminated missing weekend data points by standardizing rates via Friday forward-fill logic, preventing artificial weekend revenue dips</a:t>
            </a:r>
            <a:endParaRPr lang="en-IN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3FAA512A-7AB5-D018-1803-8067FED45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86" y="6279135"/>
            <a:ext cx="1629113" cy="37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318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7104-0A7C-9D46-4C01-84646FE3B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23569"/>
            <a:ext cx="9603275" cy="104923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82B634-06B8-4B45-4744-309F40E3637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83871651"/>
              </p:ext>
            </p:extLst>
          </p:nvPr>
        </p:nvGraphicFramePr>
        <p:xfrm>
          <a:off x="685800" y="1458783"/>
          <a:ext cx="9067800" cy="35264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33900">
                  <a:extLst>
                    <a:ext uri="{9D8B030D-6E8A-4147-A177-3AD203B41FA5}">
                      <a16:colId xmlns:a16="http://schemas.microsoft.com/office/drawing/2014/main" val="488829186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243042870"/>
                    </a:ext>
                  </a:extLst>
                </a:gridCol>
              </a:tblGrid>
              <a:tr h="705283">
                <a:tc>
                  <a:txBody>
                    <a:bodyPr/>
                    <a:lstStyle/>
                    <a:p>
                      <a:r>
                        <a:rPr lang="en-IN" sz="2200" b="1" dirty="0"/>
                        <a:t>Pipeline Phase</a:t>
                      </a:r>
                      <a:endParaRPr lang="en-IN" sz="2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Technology / Library</a:t>
                      </a:r>
                      <a:endParaRPr lang="en-IN" sz="2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687903"/>
                  </a:ext>
                </a:extLst>
              </a:tr>
              <a:tr h="705283">
                <a:tc>
                  <a:txBody>
                    <a:bodyPr/>
                    <a:lstStyle/>
                    <a:p>
                      <a:r>
                        <a:rPr lang="en-IN" b="1" dirty="0"/>
                        <a:t>Database Querying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SQLite3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7995444"/>
                  </a:ext>
                </a:extLst>
              </a:tr>
              <a:tr h="705283">
                <a:tc>
                  <a:txBody>
                    <a:bodyPr/>
                    <a:lstStyle/>
                    <a:p>
                      <a:r>
                        <a:rPr lang="en-IN" b="1"/>
                        <a:t>Data Engineering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Python 3.x (Pandas, Regex)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354022"/>
                  </a:ext>
                </a:extLst>
              </a:tr>
              <a:tr h="705283">
                <a:tc>
                  <a:txBody>
                    <a:bodyPr/>
                    <a:lstStyle/>
                    <a:p>
                      <a:r>
                        <a:rPr lang="en-IN" b="1"/>
                        <a:t>Static Analytics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Matplotlib &amp; Seaborn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298089"/>
                  </a:ext>
                </a:extLst>
              </a:tr>
              <a:tr h="705283">
                <a:tc>
                  <a:txBody>
                    <a:bodyPr/>
                    <a:lstStyle/>
                    <a:p>
                      <a:r>
                        <a:rPr lang="en-IN" b="1"/>
                        <a:t>BI Reporting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Power BI Desktop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3625520"/>
                  </a:ext>
                </a:extLst>
              </a:tr>
            </a:tbl>
          </a:graphicData>
        </a:graphic>
      </p:graphicFrame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02808E9B-880E-13CD-F389-0EA76D4AF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86" y="6279135"/>
            <a:ext cx="1629113" cy="37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012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82523-2239-812D-0E58-785C97417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254" y="623544"/>
            <a:ext cx="9603275" cy="104923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ETL Pipeline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A272F-A4AD-CB95-834A-96C1BB5C9B5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6254" y="1627010"/>
            <a:ext cx="9603275" cy="36039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4-step horizontal process flowchart with arrows connecting each phase.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SQL Extraction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window functions to isolate current Active users (14,183 verified accounts).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Vectorized Regex Parsing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regex patterns to discard system errors and extract 94,902 valid transaction logs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eur_val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Temporal Forward-Fill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Reindex 2023 calendar dates and roll Friday exchange rates forward across weekend transactions.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USD Revenue Normalization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Multiply Euro values by daily exchange rates to yield 53,899 reconciled active user transactions. 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6996F82B-2C5E-C638-DFAB-F8659630C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86" y="6279135"/>
            <a:ext cx="1629113" cy="37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080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1E18-5ABE-020C-6BE9-C4BDFC1B2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61644"/>
            <a:ext cx="9603275" cy="10492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Executive Dashboard Overview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D5AA5-2F6C-78EC-C8D1-C675C7F3AF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710880"/>
            <a:ext cx="9603275" cy="41755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Full-slide screenshot of the Power BI Dashboard with callout arrows pointing to key visual elements.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Highlights: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Header &amp; Date Slicer: Enables interactive filtering across Q1–Q4 or individual date ranges.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Summary Cards: Displays Total Revenue ($148.27M), Total Volume (54K transactions), and Average Ticket Size ($2.75K).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 Trajectory: Demonstrates consistent monthly revenue velocity without major seasonal drops.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Customer Bar Chart: Highlights leading accounts (User_U-06582 at ~$40.05K) showing balanced revenue distribution.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548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16C79-D992-3A02-80E1-A075798F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547344"/>
            <a:ext cx="9603275" cy="104923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Contribution &amp; Growth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8B62AF-D35E-0BB1-6CAE-7671201E027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61975" y="1403102"/>
            <a:ext cx="9603275" cy="370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Side-by-side comparison cards highlighting revenue stability and customer concentration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Trajectory Analysis: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 velocity remained steady across Q1–Q4, averaging ~$12.35M USD per month.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Confirms strong product-market fit and recurring operational stability without reliance on seasonal spikes.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Concentration Analysis: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top 5 enterprise accounts contribute ~$196K USD combined.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spender User_U-06582 generated $40,050.99 USD, followed closely by User_U-23313 at $39,555.81 USD.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healthy account diversification with low single-customer concentration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558DAB43-0833-197D-CB15-2AC7C8B17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86" y="6279135"/>
            <a:ext cx="1629113" cy="37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826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AB48-373C-D45D-B1C9-3ABD1B0F1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34" y="285750"/>
            <a:ext cx="8596668" cy="752475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7648BC-696C-1CD1-F360-B47D6E4C6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49" y="4557276"/>
            <a:ext cx="9923092" cy="12529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944451-594D-D4CE-D9E6-BEDD83973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40" y="1366876"/>
            <a:ext cx="9981101" cy="1219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01599D-EF7A-8D17-670B-13CE34947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49" y="2962076"/>
            <a:ext cx="9923092" cy="121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97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AB48-373C-D45D-B1C9-3ABD1B0F1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34" y="285750"/>
            <a:ext cx="8596668" cy="752475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33FC5-F728-BD0C-9ADC-31A825B42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997597"/>
            <a:ext cx="5172486" cy="486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943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A149-7953-C3E0-3D4C-DDD89695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59" y="276225"/>
            <a:ext cx="8596668" cy="752475"/>
          </a:xfrm>
        </p:spPr>
        <p:txBody>
          <a:bodyPr/>
          <a:lstStyle/>
          <a:p>
            <a:r>
              <a:rPr lang="en-IN" dirty="0"/>
              <a:t>Results: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5C0F8-A8E2-D476-1554-161B2B129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950" y="1206584"/>
            <a:ext cx="5334553" cy="2640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6E0C6E-DCC1-265F-DE03-B5125E4E5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" y="1028700"/>
            <a:ext cx="6047234" cy="299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84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8CCA-052F-690F-16D5-EEF0F7282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95300"/>
            <a:ext cx="8596668" cy="800100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E804E2-FD84-DD1C-197B-6FC40A818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558" b="20778"/>
          <a:stretch/>
        </p:blipFill>
        <p:spPr>
          <a:xfrm>
            <a:off x="763355" y="1406391"/>
            <a:ext cx="7628170" cy="429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296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1EA9C-2B74-D71F-6F90-0D1A8998E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28294"/>
            <a:ext cx="9603275" cy="1049235"/>
          </a:xfrm>
        </p:spPr>
        <p:txBody>
          <a:bodyPr/>
          <a:lstStyle/>
          <a:p>
            <a:r>
              <a:rPr lang="en-IN" dirty="0"/>
              <a:t>Business Impact &amp; Operational ROI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C4E02-340C-B554-5F3C-164F01E5FB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371600"/>
            <a:ext cx="9429750" cy="40029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Explain the business value of building this automated pipeline rather than relying on manual spreadsheets.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Time Efficiency: Reduces financial reconciliation processing time from days of manual Excel work to under 2 seconds.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Error Reduction: Completely removes human error in manual currency conversions and log filtering.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Scalability: The pipeline can easily handle millions of rows as </a:t>
            </a:r>
            <a:r>
              <a:rPr lang="en-US" dirty="0" err="1"/>
              <a:t>GlobalTech</a:t>
            </a:r>
            <a:r>
              <a:rPr lang="en-US" dirty="0"/>
              <a:t> scales internationally without requiring additional headcount.</a:t>
            </a:r>
            <a:endParaRPr lang="en-IN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E0AFE298-4054-94D5-1E4D-95DBCB47A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86" y="6279135"/>
            <a:ext cx="1629113" cy="37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149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C3834-15E0-B3EE-3CB7-8C41E94AE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09244"/>
            <a:ext cx="9603275" cy="104923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Technical Enhancement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71709-827B-50BF-0B1B-7A88123E62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438276"/>
            <a:ext cx="9315450" cy="41243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4-step vertical roadmap timeline.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Pipeline Orchestration &amp; Scheduling: Transition manual execution to automated AWS Lambda or Apache Airflow DAGs for nightly ETL updates.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Live Exchange Rate API Feeds: Connect directly to the European Central Bank API for real-time currency conversion rates.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Real-Time Log Ingestion: Implement Apache Kafka message streaming to filter error logs at ingestion time.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Predictive Financial Analytics: Integrate machine learning time-series models (Prophet/ARIMA) in Python to forecast quarterly revenue performance.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2C729319-B56C-6703-666D-AA5CE8321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86" y="6279135"/>
            <a:ext cx="1629113" cy="37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361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1AE2-3318-6585-3C97-0BEF2266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18769"/>
            <a:ext cx="9603275" cy="104923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5DDFF-84F6-E56E-5CE8-B0CB47B3ACE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447800"/>
            <a:ext cx="9372600" cy="39267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action-oriented callout blocks.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Enterprise Customer Retention: Focus key account management efforts on high-value enterprise accounts driving recurring volume.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Productionizing the Dashboard: Deploy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GlobalTech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Financial_Audit_Dashboard.pbix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Power BI Service for scheduled cloud refreshes.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Automated Log Filtering: Require engineering teams to separate error logs into dedicated log files at source.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7BA60192-BE44-6BC7-138D-BD776F6BC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86" y="6279135"/>
            <a:ext cx="1629113" cy="37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2211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CBADE-1596-B323-D628-8B60CED32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2365"/>
            <a:ext cx="9603275" cy="10492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58A05-A6D7-B570-244A-DE1752C552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371600"/>
            <a:ext cx="9315450" cy="39338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Reconciliation: Successfully engineered an end-to-end Python ETL pipeline that ingests, cleans, deduplicates, and merges multi-source enterprise data in under 2 seconds.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Audited Single Source of Truth: Reconciled 53,899 active transactions across 2023, establishing an audited total global revenue of $148,274,622.91 USD.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&amp; Risk Mitigation: Removed system error logs via vectorized Regex string matching, deduplicated account status histories through SQL window functions, and eliminated unrecorded weekend transactions via temporal forward-filling.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Visibility: Delivered an executive Power BI audit dashboard (</a:t>
            </a:r>
            <a:r>
              <a:rPr lang="en-US" sz="1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GlobalTech</a:t>
            </a:r>
            <a:r>
              <a:rPr lang="en-US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Financial Data Analytics &amp; </a:t>
            </a:r>
            <a:r>
              <a:rPr lang="en-US" sz="1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.pbix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offering dynamic slicing across quarterly performance and top enterprise customer contributions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44011246-E9C7-88A4-67D9-E57BD4AD9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686" y="6279135"/>
            <a:ext cx="1629113" cy="37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702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D6FAB-9A1B-5035-D7DB-D938A7C00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links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DE91B-771B-9B8C-43FC-CE2BCFC5BE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0550" y="1773405"/>
            <a:ext cx="9401175" cy="3311189"/>
          </a:xfrm>
        </p:spPr>
        <p:txBody>
          <a:bodyPr/>
          <a:lstStyle/>
          <a:p>
            <a:r>
              <a:rPr lang="en-IN" dirty="0"/>
              <a:t>GitHub Link:</a:t>
            </a:r>
          </a:p>
          <a:p>
            <a:pPr marL="0" indent="0">
              <a:buNone/>
            </a:pPr>
            <a:r>
              <a:rPr lang="en-IN" dirty="0">
                <a:hlinkClick r:id="rId2"/>
              </a:rPr>
              <a:t>https://github.com/ayushkumar1311/GlobalTech-Financial-Data-Analytics-Audit.git</a:t>
            </a:r>
            <a:r>
              <a:rPr lang="en-IN" dirty="0"/>
              <a:t> </a:t>
            </a:r>
          </a:p>
          <a:p>
            <a:r>
              <a:rPr lang="en-IN" dirty="0"/>
              <a:t>Google </a:t>
            </a:r>
            <a:r>
              <a:rPr lang="en-IN" dirty="0" err="1"/>
              <a:t>Collob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>
                <a:hlinkClick r:id="rId3"/>
              </a:rPr>
              <a:t>https://colab.research.google.com/drive/128pGzLybn_OGt-UiZCpFZ136gcSmyK7r?usp=sharing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416867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</TotalTime>
  <Words>1173</Words>
  <Application>Microsoft Office PowerPoint</Application>
  <PresentationFormat>Widescreen</PresentationFormat>
  <Paragraphs>101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Times New Roman</vt:lpstr>
      <vt:lpstr>Trebuchet MS</vt:lpstr>
      <vt:lpstr>Wingdings</vt:lpstr>
      <vt:lpstr>Wingdings 3</vt:lpstr>
      <vt:lpstr>Facet</vt:lpstr>
      <vt:lpstr>GlobalTech Financial Data Analytics &amp; Audit</vt:lpstr>
      <vt:lpstr>Executive Summary</vt:lpstr>
      <vt:lpstr>Target Audience:</vt:lpstr>
      <vt:lpstr>Problem Statement</vt:lpstr>
      <vt:lpstr>Data Quality &amp; Cleaning Metrics Slide</vt:lpstr>
      <vt:lpstr>Risk, Governance &amp; Audit Compliance</vt:lpstr>
      <vt:lpstr>Technology Stack</vt:lpstr>
      <vt:lpstr>End-to-End ETL Pipeline Methodology</vt:lpstr>
      <vt:lpstr>Power BI Executive Dashboard Overview</vt:lpstr>
      <vt:lpstr>Customer Contribution &amp; Growth Insights</vt:lpstr>
      <vt:lpstr>Results</vt:lpstr>
      <vt:lpstr>Results</vt:lpstr>
      <vt:lpstr>Results:</vt:lpstr>
      <vt:lpstr>Results</vt:lpstr>
      <vt:lpstr>Business Impact &amp; Operational ROI</vt:lpstr>
      <vt:lpstr>Future Scope &amp; Technical Enhancement Roadmap</vt:lpstr>
      <vt:lpstr>Strategic Recommendations</vt:lpstr>
      <vt:lpstr>Conclusion</vt:lpstr>
      <vt:lpstr>Project links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Kumar</dc:creator>
  <cp:lastModifiedBy>Ayush Kumar</cp:lastModifiedBy>
  <cp:revision>5</cp:revision>
  <dcterms:created xsi:type="dcterms:W3CDTF">2026-09-28T17:05:57Z</dcterms:created>
  <dcterms:modified xsi:type="dcterms:W3CDTF">2026-09-28T18:13:51Z</dcterms:modified>
</cp:coreProperties>
</file>